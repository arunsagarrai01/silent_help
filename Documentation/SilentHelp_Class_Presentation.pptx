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001000" y="-502920"/>
            <a:ext cx="3749039" cy="3749039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81160" y="4160520"/>
            <a:ext cx="2194560" cy="2194560"/>
          </a:xfrm>
          <a:prstGeom prst="ellipse">
            <a:avLst/>
          </a:prstGeom>
          <a:solidFill>
            <a:srgbClr val="10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713232"/>
            <a:ext cx="1261872" cy="310896"/>
          </a:xfrm>
          <a:prstGeom prst="roundRect">
            <a:avLst/>
          </a:prstGeom>
          <a:solidFill>
            <a:srgbClr val="15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717804"/>
            <a:ext cx="1188719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E0C0"/>
                </a:solidFill>
                <a:latin typeface="Aptos"/>
              </a:rPr>
              <a:t>CLASS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598932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7FB"/>
                </a:solidFill>
                <a:latin typeface="Aptos"/>
              </a:rPr>
              <a:t>SilentHelp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669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A7B7CC"/>
                </a:solidFill>
                <a:latin typeface="Aptos"/>
              </a:rPr>
              <a:t>Discreet emergency assistance,
designed for faster access when it matters.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3529584"/>
            <a:ext cx="4745736" cy="0"/>
          </a:xfrm>
          <a:prstGeom prst="line">
            <a:avLst/>
          </a:prstGeom>
          <a:ln w="30480">
            <a:solidFill>
              <a:srgbClr val="41E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3822191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B"/>
                </a:solidFill>
                <a:latin typeface="Aptos"/>
              </a:rPr>
              <a:t>Arun Sagar Rai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178808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7CC"/>
                </a:solidFill>
                <a:latin typeface="Aptos"/>
              </a:rPr>
              <a:t>BSc (Hons) 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651228"/>
            <a:ext cx="5669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50" dirty="0">
                <a:solidFill>
                  <a:srgbClr val="71839B"/>
                </a:solidFill>
                <a:latin typeface="Aptos"/>
              </a:rPr>
              <a:t>Patan College for Professional Studies</a:t>
            </a:r>
            <a:r>
              <a:rPr sz="1050" b="0" i="0" dirty="0">
                <a:solidFill>
                  <a:srgbClr val="71839B"/>
                </a:solidFill>
                <a:latin typeface="Aptos"/>
              </a:rPr>
              <a:t> •  Supervisor: Pawan KC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5669280"/>
            <a:ext cx="1536192" cy="310896"/>
          </a:xfrm>
          <a:prstGeom prst="roundRect">
            <a:avLst/>
          </a:prstGeom>
          <a:solidFill>
            <a:srgbClr val="17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5673852"/>
            <a:ext cx="1463039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7FB"/>
                </a:solidFill>
                <a:latin typeface="Aptos"/>
              </a:rPr>
              <a:t>FLUTTER + DART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4968" y="704088"/>
            <a:ext cx="3063240" cy="5449824"/>
          </a:xfrm>
          <a:prstGeom prst="roundRect">
            <a:avLst/>
          </a:prstGeom>
          <a:solidFill>
            <a:srgbClr val="050A12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863840" y="850392"/>
            <a:ext cx="2825496" cy="5157216"/>
          </a:xfrm>
          <a:prstGeom prst="roundRect">
            <a:avLst/>
          </a:prstGeom>
          <a:solidFill>
            <a:srgbClr val="10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78366" y="813816"/>
            <a:ext cx="796442" cy="64008"/>
          </a:xfrm>
          <a:prstGeom prst="roundRect">
            <a:avLst/>
          </a:prstGeom>
          <a:solidFill>
            <a:srgbClr val="2A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1097280"/>
            <a:ext cx="255117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B7CC"/>
                </a:solidFill>
                <a:latin typeface="Aptos"/>
              </a:rPr>
              <a:t>Calculator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1709928"/>
            <a:ext cx="25877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5F7FB"/>
                </a:solidFill>
                <a:latin typeface="Aptos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91856" y="2395728"/>
            <a:ext cx="2569464" cy="0"/>
          </a:xfrm>
          <a:prstGeom prst="line">
            <a:avLst/>
          </a:prstGeom>
          <a:ln w="12700">
            <a:solidFill>
              <a:srgbClr val="283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64424" y="257860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64424" y="258317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AC</a:t>
            </a:r>
          </a:p>
        </p:txBody>
      </p:sp>
      <p:sp>
        <p:nvSpPr>
          <p:cNvPr id="25" name="Oval 24"/>
          <p:cNvSpPr/>
          <p:nvPr/>
        </p:nvSpPr>
        <p:spPr>
          <a:xfrm>
            <a:off x="8503920" y="257860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258317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±</a:t>
            </a:r>
          </a:p>
        </p:txBody>
      </p:sp>
      <p:sp>
        <p:nvSpPr>
          <p:cNvPr id="27" name="Oval 26"/>
          <p:cNvSpPr/>
          <p:nvPr/>
        </p:nvSpPr>
        <p:spPr>
          <a:xfrm>
            <a:off x="9043416" y="2578608"/>
            <a:ext cx="438912" cy="438912"/>
          </a:xfrm>
          <a:prstGeom prst="ellipse">
            <a:avLst/>
          </a:prstGeom>
          <a:solidFill>
            <a:srgbClr val="24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43416" y="258317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B"/>
                </a:solidFill>
                <a:latin typeface="Aptos"/>
              </a:rPr>
              <a:t>%</a:t>
            </a:r>
          </a:p>
        </p:txBody>
      </p:sp>
      <p:sp>
        <p:nvSpPr>
          <p:cNvPr id="29" name="Oval 28"/>
          <p:cNvSpPr/>
          <p:nvPr/>
        </p:nvSpPr>
        <p:spPr>
          <a:xfrm>
            <a:off x="9582912" y="2578608"/>
            <a:ext cx="438912" cy="438912"/>
          </a:xfrm>
          <a:prstGeom prst="ellipse">
            <a:avLst/>
          </a:prstGeom>
          <a:solidFill>
            <a:srgbClr val="24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82912" y="258317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÷</a:t>
            </a:r>
          </a:p>
        </p:txBody>
      </p:sp>
      <p:sp>
        <p:nvSpPr>
          <p:cNvPr id="31" name="Oval 30"/>
          <p:cNvSpPr/>
          <p:nvPr/>
        </p:nvSpPr>
        <p:spPr>
          <a:xfrm>
            <a:off x="7964424" y="312724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64424" y="313182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7</a:t>
            </a:r>
          </a:p>
        </p:txBody>
      </p:sp>
      <p:sp>
        <p:nvSpPr>
          <p:cNvPr id="33" name="Oval 32"/>
          <p:cNvSpPr/>
          <p:nvPr/>
        </p:nvSpPr>
        <p:spPr>
          <a:xfrm>
            <a:off x="8503920" y="312724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313182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8</a:t>
            </a:r>
          </a:p>
        </p:txBody>
      </p:sp>
      <p:sp>
        <p:nvSpPr>
          <p:cNvPr id="35" name="Oval 34"/>
          <p:cNvSpPr/>
          <p:nvPr/>
        </p:nvSpPr>
        <p:spPr>
          <a:xfrm>
            <a:off x="9043416" y="312724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43416" y="313182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9</a:t>
            </a:r>
          </a:p>
        </p:txBody>
      </p:sp>
      <p:sp>
        <p:nvSpPr>
          <p:cNvPr id="37" name="Oval 36"/>
          <p:cNvSpPr/>
          <p:nvPr/>
        </p:nvSpPr>
        <p:spPr>
          <a:xfrm>
            <a:off x="9582912" y="3127248"/>
            <a:ext cx="438912" cy="438912"/>
          </a:xfrm>
          <a:prstGeom prst="ellipse">
            <a:avLst/>
          </a:prstGeom>
          <a:solidFill>
            <a:srgbClr val="24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82912" y="313182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×</a:t>
            </a:r>
          </a:p>
        </p:txBody>
      </p:sp>
      <p:sp>
        <p:nvSpPr>
          <p:cNvPr id="39" name="Oval 38"/>
          <p:cNvSpPr/>
          <p:nvPr/>
        </p:nvSpPr>
        <p:spPr>
          <a:xfrm>
            <a:off x="7964424" y="3675887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64424" y="368045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8503920" y="3675887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368045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9043416" y="3675887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43416" y="368045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9582912" y="3675887"/>
            <a:ext cx="438912" cy="438912"/>
          </a:xfrm>
          <a:prstGeom prst="ellipse">
            <a:avLst/>
          </a:prstGeom>
          <a:solidFill>
            <a:srgbClr val="24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82912" y="368045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−</a:t>
            </a:r>
          </a:p>
        </p:txBody>
      </p:sp>
      <p:sp>
        <p:nvSpPr>
          <p:cNvPr id="47" name="Oval 46"/>
          <p:cNvSpPr/>
          <p:nvPr/>
        </p:nvSpPr>
        <p:spPr>
          <a:xfrm>
            <a:off x="7964424" y="4224527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64424" y="422909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1</a:t>
            </a:r>
          </a:p>
        </p:txBody>
      </p:sp>
      <p:sp>
        <p:nvSpPr>
          <p:cNvPr id="49" name="Oval 48"/>
          <p:cNvSpPr/>
          <p:nvPr/>
        </p:nvSpPr>
        <p:spPr>
          <a:xfrm>
            <a:off x="8503920" y="4224527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0" y="422909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2</a:t>
            </a:r>
          </a:p>
        </p:txBody>
      </p:sp>
      <p:sp>
        <p:nvSpPr>
          <p:cNvPr id="51" name="Oval 50"/>
          <p:cNvSpPr/>
          <p:nvPr/>
        </p:nvSpPr>
        <p:spPr>
          <a:xfrm>
            <a:off x="9043416" y="4224527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43416" y="422909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3</a:t>
            </a:r>
          </a:p>
        </p:txBody>
      </p:sp>
      <p:sp>
        <p:nvSpPr>
          <p:cNvPr id="53" name="Oval 52"/>
          <p:cNvSpPr/>
          <p:nvPr/>
        </p:nvSpPr>
        <p:spPr>
          <a:xfrm>
            <a:off x="9582912" y="4224527"/>
            <a:ext cx="438912" cy="438912"/>
          </a:xfrm>
          <a:prstGeom prst="ellipse">
            <a:avLst/>
          </a:prstGeom>
          <a:solidFill>
            <a:srgbClr val="24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82912" y="4229099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+</a:t>
            </a:r>
          </a:p>
        </p:txBody>
      </p:sp>
      <p:sp>
        <p:nvSpPr>
          <p:cNvPr id="55" name="Oval 54"/>
          <p:cNvSpPr/>
          <p:nvPr/>
        </p:nvSpPr>
        <p:spPr>
          <a:xfrm>
            <a:off x="7964424" y="477316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64424" y="477774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⌫</a:t>
            </a:r>
          </a:p>
        </p:txBody>
      </p:sp>
      <p:sp>
        <p:nvSpPr>
          <p:cNvPr id="57" name="Oval 56"/>
          <p:cNvSpPr/>
          <p:nvPr/>
        </p:nvSpPr>
        <p:spPr>
          <a:xfrm>
            <a:off x="8503920" y="477316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20" y="477774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0</a:t>
            </a:r>
          </a:p>
        </p:txBody>
      </p:sp>
      <p:sp>
        <p:nvSpPr>
          <p:cNvPr id="59" name="Oval 58"/>
          <p:cNvSpPr/>
          <p:nvPr/>
        </p:nvSpPr>
        <p:spPr>
          <a:xfrm>
            <a:off x="9043416" y="4773168"/>
            <a:ext cx="438912" cy="438912"/>
          </a:xfrm>
          <a:prstGeom prst="ellipse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43416" y="477774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6F0"/>
                </a:solidFill>
                <a:latin typeface="Aptos"/>
              </a:rPr>
              <a:t>.</a:t>
            </a:r>
          </a:p>
        </p:txBody>
      </p:sp>
      <p:sp>
        <p:nvSpPr>
          <p:cNvPr id="61" name="Oval 60"/>
          <p:cNvSpPr/>
          <p:nvPr/>
        </p:nvSpPr>
        <p:spPr>
          <a:xfrm>
            <a:off x="9582912" y="4773168"/>
            <a:ext cx="438912" cy="438912"/>
          </a:xfrm>
          <a:prstGeom prst="ellipse">
            <a:avLst/>
          </a:prstGeom>
          <a:solidFill>
            <a:srgbClr val="1B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82912" y="4777740"/>
            <a:ext cx="438912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7FB"/>
                </a:solidFill>
                <a:latin typeface="Aptos"/>
              </a:rPr>
              <a:t>=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56448" y="5577840"/>
            <a:ext cx="2240280" cy="274320"/>
          </a:xfrm>
          <a:prstGeom prst="roundRect">
            <a:avLst/>
          </a:prstGeom>
          <a:solidFill>
            <a:srgbClr val="183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93023" y="5582412"/>
            <a:ext cx="216712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1E0C0"/>
                </a:solidFill>
                <a:latin typeface="Aptos"/>
              </a:rPr>
              <a:t>ILLUSTRATIVE 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16952" y="6245352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71839B"/>
                </a:solidFill>
                <a:latin typeface="Aptos"/>
              </a:rPr>
              <a:t>Concept illustration — not a live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E0C0"/>
                </a:solidFill>
                <a:latin typeface="Aptos"/>
              </a:rPr>
              <a:t>01 /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7FB"/>
                </a:solidFill>
                <a:latin typeface="Aptos"/>
              </a:rPr>
              <a:t>The problem is not just sending an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7CC"/>
                </a:solidFill>
                <a:latin typeface="Aptos"/>
              </a:rPr>
              <a:t>SilentHelp explores a discreet, low-friction path to contact trusted people in an urgent moment.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3246120" cy="237744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" y="2103120"/>
            <a:ext cx="457200" cy="457200"/>
          </a:xfrm>
          <a:prstGeom prst="ellipse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432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B"/>
                </a:solidFill>
                <a:latin typeface="Aptos"/>
              </a:rPr>
              <a:t>ACCESS UNDER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18688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7B7CC"/>
                </a:solidFill>
                <a:latin typeface="Aptos"/>
              </a:rPr>
              <a:t>A user may have little time to navigate menus or explain what is happening.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874519"/>
            <a:ext cx="3246120" cy="237744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70832" y="2103120"/>
            <a:ext cx="457200" cy="457200"/>
          </a:xfrm>
          <a:prstGeom prst="ellipse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7432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B"/>
                </a:solidFill>
                <a:latin typeface="Aptos"/>
              </a:rPr>
              <a:t>DISCRETION &amp;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3218688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7B7CC"/>
                </a:solidFill>
                <a:latin typeface="Aptos"/>
              </a:rPr>
              <a:t>A clearly labelled emergency screen may not suit every situation.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874519"/>
            <a:ext cx="3246120" cy="237744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09560" y="2103120"/>
            <a:ext cx="457200" cy="4572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22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27432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B"/>
                </a:solidFill>
                <a:latin typeface="Aptos"/>
              </a:rPr>
              <a:t>REAL-WORLD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3218688"/>
            <a:ext cx="27432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7B7CC"/>
                </a:solidFill>
                <a:latin typeface="Aptos"/>
              </a:rPr>
              <a:t>Location, messaging and background behaviour depend on permissions and device conditions.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645152"/>
            <a:ext cx="10323576" cy="1033271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837176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E0C0"/>
                </a:solidFill>
                <a:latin typeface="Aptos"/>
              </a:rPr>
              <a:t>DESIGN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782312"/>
            <a:ext cx="83667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B"/>
                </a:solidFill>
                <a:latin typeface="Aptos"/>
              </a:rPr>
              <a:t>Make an SOS pathway discreet and understandable — while being honest about permissions, connectivity and supported device states.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9525">
            <a:solidFill>
              <a:srgbClr val="26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654710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39B"/>
                </a:solidFill>
                <a:latin typeface="Aptos"/>
              </a:rPr>
              <a:t>SILENTHELP  •  BSc (Hons) Software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E0C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E0C0"/>
                </a:solidFill>
                <a:latin typeface="Aptos"/>
              </a:rPr>
              <a:t>02 /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7FB"/>
                </a:solidFill>
                <a:latin typeface="Aptos"/>
              </a:rPr>
              <a:t>One clear emergency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7CC"/>
                </a:solidFill>
                <a:latin typeface="Aptos"/>
              </a:rPr>
              <a:t>Conceptual flow for the prototype; each trigger and delivery path must be verified on the target device.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4440" y="2450592"/>
            <a:ext cx="1810512" cy="0"/>
          </a:xfrm>
          <a:prstGeom prst="line">
            <a:avLst/>
          </a:prstGeom>
          <a:ln w="25400">
            <a:solidFill>
              <a:srgbClr val="3A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13232" y="2103120"/>
            <a:ext cx="713232" cy="713232"/>
          </a:xfrm>
          <a:prstGeom prst="ellipse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22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" y="30449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7FB"/>
                </a:solidFill>
                <a:latin typeface="Aptos"/>
              </a:rPr>
              <a:t>SET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2152"/>
            <a:ext cx="16276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7CC"/>
                </a:solidFill>
                <a:latin typeface="Aptos"/>
              </a:rPr>
              <a:t>Add trusted contacts
Review permissions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20440" y="2450592"/>
            <a:ext cx="1810512" cy="0"/>
          </a:xfrm>
          <a:prstGeom prst="line">
            <a:avLst/>
          </a:prstGeom>
          <a:ln w="25400">
            <a:solidFill>
              <a:srgbClr val="3A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999232" y="2103120"/>
            <a:ext cx="713232" cy="713232"/>
          </a:xfrm>
          <a:prstGeom prst="ellipse">
            <a:avLst/>
          </a:prstGeom>
          <a:solidFill>
            <a:srgbClr val="6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21031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22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449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7FB"/>
                </a:solidFill>
                <a:latin typeface="Aptos"/>
              </a:rPr>
              <a:t>OPEN NORMALLY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02152"/>
            <a:ext cx="16276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7CC"/>
                </a:solidFill>
                <a:latin typeface="Aptos"/>
              </a:rPr>
              <a:t>Calculator-style
front screen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2450592"/>
            <a:ext cx="1810512" cy="0"/>
          </a:xfrm>
          <a:prstGeom prst="line">
            <a:avLst/>
          </a:prstGeom>
          <a:ln w="25400">
            <a:solidFill>
              <a:srgbClr val="3A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285231" y="2103120"/>
            <a:ext cx="713232" cy="713232"/>
          </a:xfrm>
          <a:prstGeom prst="ellipse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1" y="21031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22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0449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7FB"/>
                </a:solidFill>
                <a:latin typeface="Aptos"/>
              </a:rPr>
              <a:t>ACTIVATE 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02152"/>
            <a:ext cx="16276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7CC"/>
                </a:solidFill>
                <a:latin typeface="Aptos"/>
              </a:rPr>
              <a:t>Configured trigger
(secret / motion / voice)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92440" y="2450592"/>
            <a:ext cx="1810512" cy="0"/>
          </a:xfrm>
          <a:prstGeom prst="line">
            <a:avLst/>
          </a:prstGeom>
          <a:ln w="25400">
            <a:solidFill>
              <a:srgbClr val="3A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71231" y="2103120"/>
            <a:ext cx="713232" cy="713232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71231" y="21031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22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30449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7FB"/>
                </a:solidFill>
                <a:latin typeface="Aptos"/>
              </a:rPr>
              <a:t>GET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02152"/>
            <a:ext cx="16276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7CC"/>
                </a:solidFill>
                <a:latin typeface="Aptos"/>
              </a:rPr>
              <a:t>Request location
when permitted</a:t>
            </a:r>
          </a:p>
        </p:txBody>
      </p:sp>
      <p:sp>
        <p:nvSpPr>
          <p:cNvPr id="26" name="Oval 25"/>
          <p:cNvSpPr/>
          <p:nvPr/>
        </p:nvSpPr>
        <p:spPr>
          <a:xfrm>
            <a:off x="9857232" y="2103120"/>
            <a:ext cx="713232" cy="713232"/>
          </a:xfrm>
          <a:prstGeom prst="ellipse">
            <a:avLst/>
          </a:prstGeom>
          <a:solidFill>
            <a:srgbClr val="8CE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57232" y="210312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1220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19" y="304495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7FB"/>
                </a:solidFill>
                <a:latin typeface="Aptos"/>
              </a:rPr>
              <a:t>ALERT CONTACTS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502152"/>
            <a:ext cx="16276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7B7CC"/>
                </a:solidFill>
                <a:latin typeface="Aptos"/>
              </a:rPr>
              <a:t>Attempt supported
message / cloud path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9525">
            <a:solidFill>
              <a:srgbClr val="26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54710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39B"/>
                </a:solidFill>
                <a:latin typeface="Aptos"/>
              </a:rPr>
              <a:t>SILENTHELP  •  BSc (Hons) Software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E0C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57396"/>
            <a:ext cx="108813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41E0C0"/>
                </a:solidFill>
                <a:latin typeface="Aptos"/>
              </a:rPr>
              <a:t>0</a:t>
            </a:r>
            <a:r>
              <a:rPr lang="en-GB" sz="1000" b="1" i="0" dirty="0">
                <a:solidFill>
                  <a:srgbClr val="41E0C0"/>
                </a:solidFill>
                <a:latin typeface="Aptos"/>
              </a:rPr>
              <a:t>3</a:t>
            </a:r>
            <a:r>
              <a:rPr sz="1000" b="1" i="0" dirty="0">
                <a:solidFill>
                  <a:srgbClr val="41E0C0"/>
                </a:solidFill>
                <a:latin typeface="Aptos"/>
              </a:rPr>
              <a:t>/ ENGINEERING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7FB"/>
                </a:solidFill>
                <a:latin typeface="Aptos"/>
              </a:rPr>
              <a:t>What challenged me — and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7CC"/>
                </a:solidFill>
                <a:latin typeface="Aptos"/>
              </a:rPr>
              <a:t>The hardest lesson was that a feature can compile without being dependable in every device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65376"/>
            <a:ext cx="5285232" cy="141732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048256"/>
            <a:ext cx="64008" cy="1051560"/>
          </a:xfrm>
          <a:prstGeom prst="roundRect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48256"/>
            <a:ext cx="4645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777"/>
                </a:solidFill>
                <a:latin typeface="Aptos"/>
              </a:rPr>
              <a:t>BACKGROUND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464515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A7B7CC"/>
                </a:solidFill>
                <a:latin typeface="Aptos"/>
              </a:rPr>
              <a:t>Android restricts when services can start and when microphone/location permissions are usable. I need to document supported states and test on-device. [4]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65376"/>
            <a:ext cx="5285232" cy="141732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2048256"/>
            <a:ext cx="64008" cy="1051560"/>
          </a:xfrm>
          <a:prstGeom prst="roundRect">
            <a:avLst/>
          </a:prstGeom>
          <a:solidFill>
            <a:srgbClr val="6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048256"/>
            <a:ext cx="4645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EA8FF"/>
                </a:solidFill>
                <a:latin typeface="Aptos"/>
              </a:rPr>
              <a:t>PROJECT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04872"/>
            <a:ext cx="464515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A7B7CC"/>
                </a:solidFill>
                <a:latin typeface="Aptos"/>
              </a:rPr>
              <a:t>Flutter package commands failed when I ran them outside the Code/ project root. I learned to verify paths, dependencies and logs before rewriting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566160"/>
            <a:ext cx="5285232" cy="141732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749039"/>
            <a:ext cx="64008" cy="105156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4645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C857"/>
                </a:solidFill>
                <a:latin typeface="Aptos"/>
              </a:rPr>
              <a:t>PRIVACY &amp; OFFLINE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6"/>
            <a:ext cx="464515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A7B7CC"/>
                </a:solidFill>
                <a:latin typeface="Aptos"/>
              </a:rPr>
              <a:t>Location and contact data are sensitive. I began planning graceful failure when permissions, GPS, network or cloud configuration are unavailable.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566160"/>
            <a:ext cx="5285232" cy="1417320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55080" y="3749039"/>
            <a:ext cx="64008" cy="1051560"/>
          </a:xfrm>
          <a:prstGeom prst="roundRect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749039"/>
            <a:ext cx="4645152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1E0C0"/>
                </a:solidFill>
                <a:latin typeface="Aptos"/>
              </a:rPr>
              <a:t>AI VS. THE REAL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05656"/>
            <a:ext cx="464515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A7B7CC"/>
                </a:solidFill>
                <a:latin typeface="Aptos"/>
              </a:rPr>
              <a:t>An SOS trigger needs predictable recognition, not necessarily an LLM. A constrained voice command is a better first test than adding unnecessary complexity.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" y="5340096"/>
            <a:ext cx="10844784" cy="512064"/>
          </a:xfrm>
          <a:prstGeom prst="roundRect">
            <a:avLst/>
          </a:prstGeom>
          <a:solidFill>
            <a:srgbClr val="12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9525">
            <a:solidFill>
              <a:srgbClr val="26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654710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39B"/>
                </a:solidFill>
                <a:latin typeface="Aptos"/>
              </a:rPr>
              <a:t>SILENTHELP  •  BSc (Hons) Software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6547104"/>
            <a:ext cx="54406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1839B"/>
                </a:solidFill>
                <a:latin typeface="Aptos"/>
              </a:rPr>
              <a:t>Sources: Android Developers [4] • Firebase [3]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E0C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1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57396"/>
            <a:ext cx="108813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41E0C0"/>
                </a:solidFill>
                <a:latin typeface="Aptos"/>
              </a:rPr>
              <a:t>0</a:t>
            </a:r>
            <a:r>
              <a:rPr lang="en-GB" sz="1000" b="1" i="0" dirty="0">
                <a:solidFill>
                  <a:srgbClr val="41E0C0"/>
                </a:solidFill>
                <a:latin typeface="Aptos"/>
              </a:rPr>
              <a:t>5</a:t>
            </a:r>
            <a:r>
              <a:rPr sz="1000" b="1" i="0" dirty="0">
                <a:solidFill>
                  <a:srgbClr val="41E0C0"/>
                </a:solidFill>
                <a:latin typeface="Aptos"/>
              </a:rPr>
              <a:t> / SOURCES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7FB"/>
                </a:solidFill>
                <a:latin typeface="Aptos"/>
              </a:rPr>
              <a:t>A prototype — with a clear next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83664"/>
            <a:ext cx="3749039" cy="3419856"/>
          </a:xfrm>
          <a:prstGeom prst="roundRect">
            <a:avLst/>
          </a:prstGeom>
          <a:solidFill>
            <a:srgbClr val="15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157984"/>
            <a:ext cx="1078992" cy="292608"/>
          </a:xfrm>
          <a:prstGeom prst="roundRect">
            <a:avLst/>
          </a:prstGeom>
          <a:solidFill>
            <a:srgbClr val="1D4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62556"/>
            <a:ext cx="1005839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1E0C0"/>
                </a:solidFill>
                <a:latin typeface="Aptos"/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715768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7FB"/>
                </a:solidFill>
                <a:latin typeface="Aptos"/>
              </a:rPr>
              <a:t>Discreet UI is only
the beginning.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108960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7B7CC"/>
                </a:solidFill>
                <a:latin typeface="Aptos"/>
              </a:rPr>
              <a:t>Safety depends on permissions, platform rules, secure data access and repeatable device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1911096"/>
            <a:ext cx="6812280" cy="3419856"/>
          </a:xfrm>
          <a:prstGeom prst="round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2148840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41E0C0"/>
                </a:solidFill>
                <a:latin typeface="Aptos"/>
              </a:rPr>
              <a:t>TECHNICAL SOURCES (OFFICIAL DOCUMENTATION)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694412"/>
            <a:ext cx="60533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F5F7FB"/>
                </a:solidFill>
                <a:latin typeface="Aptos"/>
              </a:rPr>
              <a:t>[1] Flutter</a:t>
            </a:r>
            <a:r>
              <a:rPr lang="en-GB" sz="1050" b="1" i="0" dirty="0">
                <a:solidFill>
                  <a:srgbClr val="F5F7FB"/>
                </a:solidFill>
                <a:latin typeface="Aptos"/>
              </a:rPr>
              <a:t>: </a:t>
            </a:r>
            <a:r>
              <a:rPr sz="1050" b="1" i="0" dirty="0">
                <a:solidFill>
                  <a:srgbClr val="F5F7FB"/>
                </a:solidFill>
                <a:latin typeface="Aptos"/>
              </a:rPr>
              <a:t>Architecting Flutter apps.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064637"/>
            <a:ext cx="60533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F5F7FB"/>
                </a:solidFill>
                <a:latin typeface="Aptos"/>
              </a:rPr>
              <a:t>[</a:t>
            </a:r>
            <a:r>
              <a:rPr lang="en-GB" sz="1050" b="1" i="0" dirty="0">
                <a:solidFill>
                  <a:srgbClr val="F5F7FB"/>
                </a:solidFill>
                <a:latin typeface="Aptos"/>
              </a:rPr>
              <a:t>2</a:t>
            </a:r>
            <a:r>
              <a:rPr sz="1050" b="1" i="0" dirty="0">
                <a:solidFill>
                  <a:srgbClr val="F5F7FB"/>
                </a:solidFill>
                <a:latin typeface="Aptos"/>
              </a:rPr>
              <a:t>] Firebase</a:t>
            </a:r>
            <a:r>
              <a:rPr lang="en-GB" sz="1050" b="1" i="0" dirty="0">
                <a:solidFill>
                  <a:srgbClr val="F5F7FB"/>
                </a:solidFill>
                <a:latin typeface="Aptos"/>
              </a:rPr>
              <a:t>:</a:t>
            </a:r>
            <a:r>
              <a:rPr sz="1050" b="1" i="0" dirty="0">
                <a:solidFill>
                  <a:srgbClr val="F5F7FB"/>
                </a:solidFill>
                <a:latin typeface="Aptos"/>
              </a:rPr>
              <a:t> Security Rules and Authentication.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3377144"/>
            <a:ext cx="60533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F5F7FB"/>
                </a:solidFill>
                <a:latin typeface="Aptos"/>
              </a:rPr>
              <a:t>[</a:t>
            </a:r>
            <a:r>
              <a:rPr lang="en-GB" sz="1050" b="1" dirty="0">
                <a:solidFill>
                  <a:srgbClr val="F5F7FB"/>
                </a:solidFill>
                <a:latin typeface="Aptos"/>
              </a:rPr>
              <a:t>3]</a:t>
            </a:r>
            <a:r>
              <a:rPr sz="1050" b="1" i="0" dirty="0">
                <a:solidFill>
                  <a:srgbClr val="F5F7FB"/>
                </a:solidFill>
                <a:latin typeface="Aptos"/>
              </a:rPr>
              <a:t> Android Developers</a:t>
            </a:r>
            <a:r>
              <a:rPr lang="en-GB" sz="1050" b="1" i="0" dirty="0">
                <a:solidFill>
                  <a:srgbClr val="F5F7FB"/>
                </a:solidFill>
                <a:latin typeface="Aptos"/>
              </a:rPr>
              <a:t>: </a:t>
            </a:r>
            <a:r>
              <a:rPr sz="1050" b="1" i="0" dirty="0">
                <a:solidFill>
                  <a:srgbClr val="F5F7FB"/>
                </a:solidFill>
                <a:latin typeface="Aptos"/>
              </a:rPr>
              <a:t>Foreground service changes and restrictions.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5074920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1839B"/>
                </a:solidFill>
                <a:latin typeface="Aptos"/>
              </a:rPr>
              <a:t>Accessed 11 October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678424"/>
            <a:ext cx="10789920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7FB"/>
                </a:solidFill>
                <a:latin typeface="Aptos"/>
              </a:rPr>
              <a:t>Thank you  •  Questions?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9525">
            <a:solidFill>
              <a:srgbClr val="26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654710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1839B"/>
                </a:solidFill>
                <a:latin typeface="Aptos"/>
              </a:rPr>
              <a:t>SILENTHELP  •  BSc (Hons) Software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E0C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525</Words>
  <Application>Microsoft Office PowerPoint</Application>
  <PresentationFormat>Widescreen</PresentationFormat>
  <Paragraphs>94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SilentHelp — Class Demonstration</dc:title>
  <dc:subject>BSc (Hons) Software Engineering project presentation</dc:subject>
  <dc:creator>Arun Sagar Rai</dc:creator>
  <cp:keywords>SilentHelp, Flutter, Dart, Android, emergency assistance</cp:keywords>
  <dc:description>Illustrative UI mockup; implementation claims are intentionally qualified where features require further validation.</dc:description>
  <cp:lastModifiedBy>Arun Rai</cp:lastModifiedBy>
  <cp:revision>2</cp:revision>
  <dcterms:created xsi:type="dcterms:W3CDTF">2013-01-27T09:14:16Z</dcterms:created>
  <dcterms:modified xsi:type="dcterms:W3CDTF">2026-10-12T02:32:48Z</dcterms:modified>
  <cp:category/>
</cp:coreProperties>
</file>